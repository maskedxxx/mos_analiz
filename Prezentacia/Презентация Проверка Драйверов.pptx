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3" r:id="rId1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2" y="-2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microsoft.com/office/2007/relationships/hdphoto" Target="../media/hdphoto3.wdp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4.wdp"/><Relationship Id="rId10" Type="http://schemas.microsoft.com/office/2007/relationships/hdphoto" Target="../media/hdphoto5.wdp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7.wdp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7" Type="http://schemas.microsoft.com/office/2007/relationships/hdphoto" Target="../media/hdphoto12.wdp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1.wdp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G:\work\MAKS.NEMOV\Безымянный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42" r="1258"/>
          <a:stretch/>
        </p:blipFill>
        <p:spPr bwMode="auto">
          <a:xfrm rot="16200000" flipH="1">
            <a:off x="2926967" y="1195593"/>
            <a:ext cx="3362076" cy="928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4760" y="1851670"/>
            <a:ext cx="9321691" cy="1102519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Arial Black" pitchFamily="34" charset="0"/>
                <a:cs typeface="Arial" pitchFamily="34" charset="0"/>
              </a:rPr>
              <a:t>Автоматизация</a:t>
            </a:r>
            <a:r>
              <a:rPr lang="en-US" b="1" dirty="0" smtClean="0">
                <a:latin typeface="Arial Black" pitchFamily="34" charset="0"/>
                <a:cs typeface="Arial" pitchFamily="34" charset="0"/>
              </a:rPr>
              <a:t/>
            </a:r>
            <a:br>
              <a:rPr lang="en-US" b="1" dirty="0" smtClean="0">
                <a:latin typeface="Arial Black" pitchFamily="34" charset="0"/>
                <a:cs typeface="Arial" pitchFamily="34" charset="0"/>
              </a:rPr>
            </a:br>
            <a:r>
              <a:rPr lang="ru-RU" b="1" dirty="0" smtClean="0">
                <a:latin typeface="Arial Black" pitchFamily="34" charset="0"/>
                <a:cs typeface="Arial" pitchFamily="34" charset="0"/>
              </a:rPr>
              <a:t> </a:t>
            </a:r>
            <a:r>
              <a:rPr lang="ru-RU" b="1" dirty="0">
                <a:latin typeface="Arial Black" pitchFamily="34" charset="0"/>
                <a:cs typeface="Arial" pitchFamily="34" charset="0"/>
              </a:rPr>
              <a:t>проверки отчётов о </a:t>
            </a:r>
            <a:r>
              <a:rPr lang="ru-RU" b="1" dirty="0" smtClean="0">
                <a:latin typeface="Arial Black" pitchFamily="34" charset="0"/>
                <a:cs typeface="Arial" pitchFamily="34" charset="0"/>
              </a:rPr>
              <a:t>драйверах</a:t>
            </a:r>
            <a:r>
              <a:rPr lang="en-US" b="1" dirty="0" smtClean="0">
                <a:latin typeface="Arial Black" pitchFamily="34" charset="0"/>
                <a:cs typeface="Arial" pitchFamily="34" charset="0"/>
              </a:rPr>
              <a:t> </a:t>
            </a:r>
            <a:r>
              <a:rPr lang="ru-RU" b="1" dirty="0" smtClean="0">
                <a:latin typeface="Arial Black" pitchFamily="34" charset="0"/>
                <a:cs typeface="Arial" pitchFamily="34" charset="0"/>
              </a:rPr>
              <a:t>производительности</a:t>
            </a:r>
            <a:endParaRPr lang="ru-RU" b="1" dirty="0">
              <a:latin typeface="Arial Black" pitchFamily="34" charset="0"/>
              <a:cs typeface="Arial" pitchFamily="34" charset="0"/>
            </a:endParaRPr>
          </a:p>
        </p:txBody>
      </p:sp>
      <p:pic>
        <p:nvPicPr>
          <p:cNvPr id="1029" name="Picture 5" descr="Герб Москвы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5" y="123479"/>
            <a:ext cx="848494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G:\work\MAKS.NEMOV\Безымянный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42" r="1258"/>
          <a:stretch/>
        </p:blipFill>
        <p:spPr bwMode="auto">
          <a:xfrm rot="16200000" flipH="1">
            <a:off x="-5569978" y="5440920"/>
            <a:ext cx="3362076" cy="928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G:\work\MAKS.NEMOV\Безымянный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42" r="1258"/>
          <a:stretch/>
        </p:blipFill>
        <p:spPr bwMode="auto">
          <a:xfrm flipH="1">
            <a:off x="11700792" y="1195592"/>
            <a:ext cx="3362076" cy="928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60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800" dirty="0" smtClean="0">
                <a:latin typeface="Arial Black" pitchFamily="34" charset="0"/>
              </a:rPr>
              <a:t>Отчеты драйверов производительности</a:t>
            </a:r>
            <a:endParaRPr lang="ru-RU" sz="2800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49871"/>
            <a:ext cx="4896544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1" dirty="0">
                <a:latin typeface="Arial" pitchFamily="34" charset="0"/>
                <a:cs typeface="Arial" pitchFamily="34" charset="0"/>
              </a:rPr>
              <a:t>О</a:t>
            </a:r>
            <a:r>
              <a:rPr lang="ru-RU" sz="2800" b="1" dirty="0" smtClean="0">
                <a:latin typeface="Arial" pitchFamily="34" charset="0"/>
                <a:cs typeface="Arial" pitchFamily="34" charset="0"/>
              </a:rPr>
              <a:t>дна </a:t>
            </a:r>
            <a:r>
              <a:rPr lang="ru-RU" sz="2800" b="1" dirty="0">
                <a:latin typeface="Arial" pitchFamily="34" charset="0"/>
                <a:cs typeface="Arial" pitchFamily="34" charset="0"/>
              </a:rPr>
              <a:t>из самых трудоёмких задач у экспертов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— </a:t>
            </a:r>
            <a:endParaRPr lang="ru-RU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ru-RU" sz="2800" dirty="0" smtClean="0">
                <a:latin typeface="Arial" pitchFamily="34" charset="0"/>
                <a:cs typeface="Arial" pitchFamily="34" charset="0"/>
              </a:rPr>
              <a:t>ручная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проверка отчётов о драйверах производительности предприятий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347614"/>
            <a:ext cx="2842476" cy="2998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08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 descr="58+ Thousand Clock Ticking Icon Royalty-Free Images, Stock Photos &amp;  Pictures | Shutter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977" y="1494180"/>
            <a:ext cx="2160240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2400" dirty="0" smtClean="0">
                <a:latin typeface="Arial Black" pitchFamily="34" charset="0"/>
              </a:rPr>
              <a:t>ТЕКУЩАЯ ПРОБЛЕМА РУЧНОЙ ПРОВЕРКИ</a:t>
            </a:r>
            <a:endParaRPr lang="ru-RU" sz="2400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6680" y="5740102"/>
            <a:ext cx="8229600" cy="3394472"/>
          </a:xfrm>
        </p:spPr>
        <p:txBody>
          <a:bodyPr/>
          <a:lstStyle/>
          <a:p>
            <a:r>
              <a:rPr lang="ru-RU" dirty="0"/>
              <a:t>Тут то как оно идет по пунктам и сколько времени жрет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95537" y="1103772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Arial Black" pitchFamily="34" charset="0"/>
              </a:rPr>
              <a:t>Большие трудозатраты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99295" y="1103772"/>
            <a:ext cx="310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Arial Black" pitchFamily="34" charset="0"/>
              </a:rPr>
              <a:t>Риск человеческой ошибки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0834" y="1103772"/>
            <a:ext cx="2818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Arial Black" pitchFamily="34" charset="0"/>
              </a:rPr>
              <a:t>Невысокая скорость решений</a:t>
            </a:r>
            <a:endParaRPr lang="ru-RU" dirty="0">
              <a:latin typeface="Arial Black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13" y="1779662"/>
            <a:ext cx="1881286" cy="1464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 descr="Document Error Icon - Free PNG &amp; SVG 729356 - Noun Project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bright="37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63564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21413" y="3423742"/>
            <a:ext cx="20783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Десятки файлов, каждый содержит множество строк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473761" y="3423742"/>
            <a:ext cx="2232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Много ручной работы и высокий риск человеческих ошибок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479977" y="3423742"/>
            <a:ext cx="21907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Эксперты тратят время не на анализ, а на механическую сверку</a:t>
            </a:r>
          </a:p>
        </p:txBody>
      </p:sp>
    </p:spTree>
    <p:extLst>
      <p:ext uri="{BB962C8B-B14F-4D97-AF65-F5344CB8AC3E}">
        <p14:creationId xmlns:p14="http://schemas.microsoft.com/office/powerpoint/2010/main" val="105523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800" dirty="0" smtClean="0">
                <a:latin typeface="Arial Black" pitchFamily="34" charset="0"/>
              </a:rPr>
              <a:t>РАЗРАБОТАННОЕ</a:t>
            </a:r>
            <a:r>
              <a:rPr lang="ru-RU" sz="3600" dirty="0" smtClean="0">
                <a:latin typeface="Arial Black" pitchFamily="34" charset="0"/>
              </a:rPr>
              <a:t> </a:t>
            </a:r>
            <a:r>
              <a:rPr lang="ru-RU" sz="2800" dirty="0" smtClean="0">
                <a:latin typeface="Arial Black" pitchFamily="34" charset="0"/>
              </a:rPr>
              <a:t>РЕШЕНИЕ</a:t>
            </a:r>
            <a:endParaRPr lang="ru-RU" sz="3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1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66" y="1858386"/>
            <a:ext cx="160490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8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681" y="1723476"/>
            <a:ext cx="1692275" cy="159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6" descr="Apps, Custom, Program Icon. Graph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8" descr="Apps, Custom, Program Icon. Graphi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10" descr="Apps, Custom, Program Icon. Graphi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12" descr="Apps, Custom, Program Icon. Graphi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5524078"/>
            <a:ext cx="3338513" cy="330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5702671"/>
            <a:ext cx="2987675" cy="294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2" name="Picture 16" descr="5,800+ Spreadsheet Icon Stock Illustrations, Royalty-Free Vector Graphics &amp;  Clip Art - iStock | Excel spreadsheet icon, Spreadsheet icon vector, Spreadsheet  icon lin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2936" y="5524078"/>
            <a:ext cx="5829300" cy="582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8" descr="Excel - Free files and folders icons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15" name="Picture 1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1786396"/>
            <a:ext cx="1374236" cy="1577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468496" y="3363838"/>
            <a:ext cx="31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Разбирает файл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на логические блоки: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i="1" dirty="0" smtClean="0">
                <a:latin typeface="Arial" panose="020B0604020202020204" pitchFamily="34" charset="0"/>
                <a:cs typeface="Arial" panose="020B0604020202020204" pitchFamily="34" charset="0"/>
              </a:rPr>
              <a:t>секции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i="1" dirty="0" smtClean="0">
                <a:latin typeface="Arial" panose="020B0604020202020204" pitchFamily="34" charset="0"/>
                <a:cs typeface="Arial" panose="020B0604020202020204" pitchFamily="34" charset="0"/>
              </a:rPr>
              <a:t>драйверы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i="1" dirty="0" smtClean="0">
                <a:latin typeface="Arial" panose="020B0604020202020204" pitchFamily="34" charset="0"/>
                <a:cs typeface="Arial" panose="020B0604020202020204" pitchFamily="34" charset="0"/>
              </a:rPr>
              <a:t>оценки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i="1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72071" y="1178170"/>
            <a:ext cx="15953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Arial Black" pitchFamily="34" charset="0"/>
              </a:rPr>
              <a:t>Скрипт обработки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774404" y="1178170"/>
            <a:ext cx="17668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latin typeface="Arial Black" pitchFamily="34" charset="0"/>
              </a:rPr>
              <a:t>Проверка </a:t>
            </a:r>
          </a:p>
          <a:p>
            <a:pPr algn="ctr"/>
            <a:r>
              <a:rPr lang="ru-RU" dirty="0" err="1" smtClean="0">
                <a:latin typeface="Arial Black" pitchFamily="34" charset="0"/>
              </a:rPr>
              <a:t>нейросетью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236296" y="1316669"/>
            <a:ext cx="917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 Black" pitchFamily="34" charset="0"/>
              </a:rPr>
              <a:t>Отчёт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635896" y="3369420"/>
            <a:ext cx="243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ИИ проверяет, соответствуют ли выводы драйверам с высокими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оценками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674783" y="3397021"/>
            <a:ext cx="2340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Формируется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список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замечаний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991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2000"/>
                    </a14:imgEffect>
                    <a14:imgEffect>
                      <a14:brightnessContrast contrast="-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05404"/>
            <a:ext cx="143140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3000"/>
                    </a14:imgEffect>
                    <a14:imgEffect>
                      <a14:brightnessContrast bright="20000" contrast="-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753673"/>
            <a:ext cx="1740366" cy="1829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6000"/>
                    </a14:imgEffect>
                    <a14:imgEffect>
                      <a14:brightnessContrast contras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352" y="2007414"/>
            <a:ext cx="1999475" cy="1321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b="1" dirty="0" smtClean="0">
                <a:latin typeface="Arial Black" pitchFamily="34" charset="0"/>
              </a:rPr>
              <a:t>Технологии</a:t>
            </a:r>
            <a:endParaRPr lang="ru-RU" sz="3600" dirty="0">
              <a:latin typeface="Arial Black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27584" y="1304127"/>
            <a:ext cx="105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Black" pitchFamily="34" charset="0"/>
              </a:rPr>
              <a:t>Python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3617862"/>
            <a:ext cx="18722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Автоматизация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обработки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документов в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JSON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формат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491880" y="1196406"/>
            <a:ext cx="17240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 smtClean="0">
                <a:latin typeface="Arial Black" pitchFamily="34" charset="0"/>
              </a:rPr>
              <a:t>OpenAI</a:t>
            </a:r>
            <a:r>
              <a:rPr lang="en-US" sz="1600" b="1" dirty="0" smtClean="0">
                <a:latin typeface="Arial Black" pitchFamily="34" charset="0"/>
              </a:rPr>
              <a:t> </a:t>
            </a:r>
          </a:p>
          <a:p>
            <a:r>
              <a:rPr lang="en-US" sz="1600" b="1" dirty="0" smtClean="0">
                <a:latin typeface="Arial Black" pitchFamily="34" charset="0"/>
              </a:rPr>
              <a:t>(GPT-</a:t>
            </a:r>
            <a:r>
              <a:rPr lang="ru-RU" sz="1600" b="1" dirty="0" smtClean="0">
                <a:latin typeface="Arial Black" pitchFamily="34" charset="0"/>
              </a:rPr>
              <a:t>модель)</a:t>
            </a:r>
            <a:endParaRPr lang="ru-RU" sz="1600" dirty="0">
              <a:latin typeface="Arial Black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444208" y="1304127"/>
            <a:ext cx="165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Arial Black" pitchFamily="34" charset="0"/>
              </a:rPr>
              <a:t>Excel-</a:t>
            </a:r>
            <a:r>
              <a:rPr lang="ru-RU" b="1" dirty="0" smtClean="0">
                <a:latin typeface="Arial Black" pitchFamily="34" charset="0"/>
              </a:rPr>
              <a:t>отчёт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599352" y="3617862"/>
            <a:ext cx="16459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Удобный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экспертов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формат таблиц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xlsx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491880" y="3617862"/>
            <a:ext cx="2448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Семантический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 текстов и логическая сверка</a:t>
            </a:r>
          </a:p>
        </p:txBody>
      </p:sp>
      <p:pic>
        <p:nvPicPr>
          <p:cNvPr id="5128" name="Picture 8" descr="Python language 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656" y="789037"/>
            <a:ext cx="1342470" cy="134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https://logos-world.net/wp-content/uploads/2023/02/ChatGPT-Logo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038201" y="1169467"/>
            <a:ext cx="875550" cy="49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Download Excel, Icon, Microsoft. Royalty-Free Vector Graphic - Pixabay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6375" y="1210802"/>
            <a:ext cx="606174" cy="55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86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104" y="205979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Новый подход</a:t>
            </a:r>
            <a:endParaRPr lang="ru-RU" sz="3600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9104" y="971168"/>
            <a:ext cx="4258816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>
                <a:latin typeface="Arial" pitchFamily="34" charset="0"/>
                <a:cs typeface="Arial" pitchFamily="34" charset="0"/>
              </a:rPr>
              <a:t>Требования к документу 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3 </a:t>
            </a:r>
            <a:r>
              <a:rPr lang="ru-RU" sz="2800" dirty="0" smtClean="0">
                <a:latin typeface="Arial" pitchFamily="34" charset="0"/>
                <a:cs typeface="Arial" pitchFamily="34" charset="0"/>
              </a:rPr>
              <a:t>блока:</a:t>
            </a:r>
            <a:endParaRPr lang="ru-RU" sz="28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11510"/>
            <a:ext cx="4260998" cy="452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9384" y="1977953"/>
            <a:ext cx="1050288" cy="369332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itchFamily="34" charset="0"/>
              </a:rPr>
              <a:t>Шапка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69384" y="2994931"/>
            <a:ext cx="824265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itchFamily="34" charset="0"/>
              </a:rPr>
              <a:t>Тело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69384" y="4011910"/>
            <a:ext cx="102303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itchFamily="34" charset="0"/>
              </a:rPr>
              <a:t>Вывод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91680" y="1907687"/>
            <a:ext cx="28083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Метаданные. Общая информация по документу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691680" y="2924665"/>
            <a:ext cx="28083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Таблица драйверов. Оценки по направлениям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691680" y="3941643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Аннотации по важным драйверам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356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Выходной результат</a:t>
            </a:r>
            <a:endParaRPr lang="ru-RU" sz="3600" dirty="0">
              <a:latin typeface="Arial Black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55576" y="3858602"/>
            <a:ext cx="1050288" cy="369332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itchFamily="34" charset="0"/>
              </a:rPr>
              <a:t>Шапка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923928" y="3838965"/>
            <a:ext cx="824265" cy="36933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itchFamily="34" charset="0"/>
              </a:rPr>
              <a:t>Тело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732239" y="3827733"/>
            <a:ext cx="1023037" cy="369332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itchFamily="34" charset="0"/>
              </a:rPr>
              <a:t>Вывод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07504" y="1203598"/>
            <a:ext cx="8862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Итоговая таблица содержит список драйверов требующих внимания в документе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78" y="1815864"/>
            <a:ext cx="8617394" cy="176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284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b="1" dirty="0">
                <a:latin typeface="Arial Black" pitchFamily="34" charset="0"/>
              </a:rPr>
              <a:t>Результат и </a:t>
            </a:r>
            <a:r>
              <a:rPr lang="ru-RU" sz="3600" b="1" dirty="0" smtClean="0">
                <a:latin typeface="Arial Black" pitchFamily="34" charset="0"/>
              </a:rPr>
              <a:t>эффект</a:t>
            </a:r>
            <a:endParaRPr lang="ru-RU" sz="3600" dirty="0">
              <a:latin typeface="Arial Black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617085"/>
              </p:ext>
            </p:extLst>
          </p:nvPr>
        </p:nvGraphicFramePr>
        <p:xfrm>
          <a:off x="539552" y="1203596"/>
          <a:ext cx="8064897" cy="3374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8299"/>
                <a:gridCol w="2688299"/>
                <a:gridCol w="2688299"/>
              </a:tblGrid>
              <a:tr h="435966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bg1"/>
                          </a:solidFill>
                          <a:latin typeface="Arial Black" pitchFamily="34" charset="0"/>
                        </a:rPr>
                        <a:t>Показатель</a:t>
                      </a:r>
                      <a:endParaRPr lang="ru-RU" dirty="0">
                        <a:solidFill>
                          <a:schemeClr val="bg1"/>
                        </a:solidFill>
                        <a:latin typeface="Arial Black" pitchFamily="34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bg1"/>
                          </a:solidFill>
                          <a:latin typeface="Arial Black" pitchFamily="34" charset="0"/>
                        </a:rPr>
                        <a:t>Было</a:t>
                      </a:r>
                      <a:endParaRPr lang="ru-RU" dirty="0">
                        <a:solidFill>
                          <a:schemeClr val="bg1"/>
                        </a:solidFill>
                        <a:latin typeface="Arial Black" pitchFamily="34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bg1"/>
                          </a:solidFill>
                          <a:latin typeface="Arial Black" pitchFamily="34" charset="0"/>
                        </a:rPr>
                        <a:t>Стало</a:t>
                      </a:r>
                      <a:endParaRPr lang="ru-RU" dirty="0">
                        <a:solidFill>
                          <a:schemeClr val="bg1"/>
                        </a:solidFill>
                        <a:latin typeface="Arial Black" pitchFamily="34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73457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  <a:latin typeface="Arial" pitchFamily="34" charset="0"/>
                          <a:cs typeface="Arial" pitchFamily="34" charset="0"/>
                        </a:rPr>
                        <a:t>Время проверки одного файла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effectLst/>
                          <a:latin typeface="Arial" pitchFamily="34" charset="0"/>
                          <a:cs typeface="Arial" pitchFamily="34" charset="0"/>
                        </a:rPr>
                        <a:t>1 – 2 </a:t>
                      </a:r>
                      <a:r>
                        <a:rPr lang="ru-RU" dirty="0">
                          <a:effectLst/>
                          <a:latin typeface="Arial" pitchFamily="34" charset="0"/>
                          <a:cs typeface="Arial" pitchFamily="34" charset="0"/>
                        </a:rPr>
                        <a:t>часа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  <a:latin typeface="Arial" pitchFamily="34" charset="0"/>
                          <a:cs typeface="Arial" pitchFamily="34" charset="0"/>
                        </a:rPr>
                        <a:t>&lt; 1 минуты</a:t>
                      </a:r>
                    </a:p>
                  </a:txBody>
                  <a:tcPr marL="76200" marR="76200" marT="38100" marB="38100" anchor="ctr"/>
                </a:tc>
              </a:tr>
              <a:tr h="73457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  <a:latin typeface="Arial" pitchFamily="34" charset="0"/>
                          <a:cs typeface="Arial" pitchFamily="34" charset="0"/>
                        </a:rPr>
                        <a:t>Число проверок в день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effectLst/>
                          <a:latin typeface="Arial" pitchFamily="34" charset="0"/>
                          <a:cs typeface="Arial" pitchFamily="34" charset="0"/>
                        </a:rPr>
                        <a:t>2 – 3</a:t>
                      </a:r>
                      <a:endParaRPr lang="ru-RU" dirty="0"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  <a:latin typeface="Arial" pitchFamily="34" charset="0"/>
                          <a:cs typeface="Arial" pitchFamily="34" charset="0"/>
                        </a:rPr>
                        <a:t>20+</a:t>
                      </a:r>
                    </a:p>
                  </a:txBody>
                  <a:tcPr marL="76200" marR="76200" marT="38100" marB="38100" anchor="ctr"/>
                </a:tc>
              </a:tr>
              <a:tr h="734573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  <a:latin typeface="Arial" pitchFamily="34" charset="0"/>
                          <a:cs typeface="Arial" pitchFamily="34" charset="0"/>
                        </a:rPr>
                        <a:t>Ошибки из-за невнимательности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  <a:latin typeface="Arial" pitchFamily="34" charset="0"/>
                          <a:cs typeface="Arial" pitchFamily="34" charset="0"/>
                        </a:rPr>
                        <a:t>Часто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  <a:latin typeface="Arial" pitchFamily="34" charset="0"/>
                          <a:cs typeface="Arial" pitchFamily="34" charset="0"/>
                        </a:rPr>
                        <a:t>Отсутствуют</a:t>
                      </a:r>
                    </a:p>
                  </a:txBody>
                  <a:tcPr marL="76200" marR="76200" marT="38100" marB="38100" anchor="ctr"/>
                </a:tc>
              </a:tr>
              <a:tr h="734573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  <a:latin typeface="Arial" pitchFamily="34" charset="0"/>
                          <a:cs typeface="Arial" pitchFamily="34" charset="0"/>
                        </a:rPr>
                        <a:t>Формат отчёта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  <a:latin typeface="Arial" pitchFamily="34" charset="0"/>
                          <a:cs typeface="Arial" pitchFamily="34" charset="0"/>
                        </a:rPr>
                        <a:t>Ручной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  <a:latin typeface="Arial" pitchFamily="34" charset="0"/>
                          <a:cs typeface="Arial" pitchFamily="34" charset="0"/>
                        </a:rPr>
                        <a:t>Автоматический </a:t>
                      </a:r>
                      <a:r>
                        <a:rPr lang="en-US" dirty="0">
                          <a:effectLst/>
                          <a:latin typeface="Arial" pitchFamily="34" charset="0"/>
                          <a:cs typeface="Arial" pitchFamily="34" charset="0"/>
                        </a:rPr>
                        <a:t>Excel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27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b="1" dirty="0">
                <a:latin typeface="Arial Black" pitchFamily="34" charset="0"/>
              </a:rPr>
              <a:t>Потенциал </a:t>
            </a:r>
            <a:r>
              <a:rPr lang="ru-RU" sz="3600" b="1" dirty="0" smtClean="0">
                <a:latin typeface="Arial Black" pitchFamily="34" charset="0"/>
              </a:rPr>
              <a:t>развития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7170" name="Picture 2" descr="Ocr free icons designed by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05" y="1649954"/>
            <a:ext cx="1603920" cy="160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95537" y="111075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OCR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21413" y="3423742"/>
            <a:ext cx="20783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Распознавание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подписей и печатей в сканах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404162" y="3423742"/>
            <a:ext cx="23714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WEB -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интерфейс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загрузки документов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479977" y="3423742"/>
            <a:ext cx="21907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Автоматическая выгрузка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отчётов в общий портал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9729" y="111075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 Black" pitchFamily="34" charset="0"/>
              </a:rPr>
              <a:t>Web-</a:t>
            </a:r>
            <a:r>
              <a:rPr lang="ru-RU" dirty="0">
                <a:latin typeface="Arial Black" pitchFamily="34" charset="0"/>
              </a:rPr>
              <a:t>интерфейс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601" y="111075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 smtClean="0">
                <a:latin typeface="Arial Black" pitchFamily="34" charset="0"/>
              </a:rPr>
              <a:t>Автовыгрузка</a:t>
            </a:r>
            <a:endParaRPr lang="ru-RU" dirty="0">
              <a:latin typeface="Arial Black" pitchFamily="34" charset="0"/>
            </a:endParaRPr>
          </a:p>
        </p:txBody>
      </p:sp>
      <p:pic>
        <p:nvPicPr>
          <p:cNvPr id="7174" name="Picture 6" descr="Web App Icon in SVG, PNG format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236" y="1446153"/>
            <a:ext cx="2011520" cy="201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50000"/>
                    </a14:imgEffect>
                    <a14:imgEffect>
                      <a14:brightnessContrast bright="-37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935" y="1711633"/>
            <a:ext cx="1602804" cy="148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93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052933"/>
            <a:ext cx="8229600" cy="857250"/>
          </a:xfrm>
        </p:spPr>
        <p:txBody>
          <a:bodyPr/>
          <a:lstStyle/>
          <a:p>
            <a:r>
              <a:rPr lang="ru-RU" dirty="0" smtClean="0">
                <a:latin typeface="Arial Black" pitchFamily="34" charset="0"/>
              </a:rPr>
              <a:t>Спасибо за внимание!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5590"/>
            <a:ext cx="8229600" cy="3394472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Ответы на вопросы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5" descr="Герб Москвы — Википед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5" y="123479"/>
            <a:ext cx="848494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G:\work\MAKS.NEMOV\Безымянный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42" r="1258"/>
          <a:stretch/>
        </p:blipFill>
        <p:spPr bwMode="auto">
          <a:xfrm rot="16200000" flipH="1">
            <a:off x="2926967" y="1195593"/>
            <a:ext cx="3362076" cy="928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6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229</Words>
  <Application>Microsoft Office PowerPoint</Application>
  <PresentationFormat>Экран (16:9)</PresentationFormat>
  <Paragraphs>66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Автоматизация  проверки отчётов о драйверах производительности</vt:lpstr>
      <vt:lpstr>Отчеты драйверов производительности</vt:lpstr>
      <vt:lpstr>ТЕКУЩАЯ ПРОБЛЕМА РУЧНОЙ ПРОВЕРКИ</vt:lpstr>
      <vt:lpstr>РАЗРАБОТАННОЕ РЕШЕНИЕ</vt:lpstr>
      <vt:lpstr>Технологии</vt:lpstr>
      <vt:lpstr>Новый подход</vt:lpstr>
      <vt:lpstr>Выходной результат</vt:lpstr>
      <vt:lpstr>Результат и эффект</vt:lpstr>
      <vt:lpstr>Потенциал развития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</dc:title>
  <dc:creator>Admin</dc:creator>
  <cp:lastModifiedBy>administrator</cp:lastModifiedBy>
  <cp:revision>25</cp:revision>
  <dcterms:created xsi:type="dcterms:W3CDTF">2025-10-08T19:26:18Z</dcterms:created>
  <dcterms:modified xsi:type="dcterms:W3CDTF">2025-10-08T23:25:41Z</dcterms:modified>
</cp:coreProperties>
</file>